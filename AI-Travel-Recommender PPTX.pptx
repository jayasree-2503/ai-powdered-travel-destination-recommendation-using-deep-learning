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2038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mogusani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laxmanmuppidi9704@gmail.com" TargetMode="External"/><Relationship Id="rId4" Type="http://schemas.openxmlformats.org/officeDocument/2006/relationships/hyperlink" Target="mailto:238r1a12k4@gmail.com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5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3E5EA8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138160" y="3931920"/>
            <a:ext cx="1828800" cy="1828800"/>
          </a:xfrm>
          <a:prstGeom prst="ellipse">
            <a:avLst/>
          </a:prstGeom>
          <a:solidFill>
            <a:srgbClr val="2A83D0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AICW ENGINEERING SPOKE   |   PROJECT PRESENTATION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Travel Destination Recommender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Deep Learning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30632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7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every traveler to the best Indian destination with a trained neural network.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114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Jayasree</a:t>
            </a:r>
            <a:r>
              <a:rPr lang="en-US" sz="11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jmogusani@gmail.com</a:t>
            </a:r>
            <a:endParaRPr lang="en-US" sz="1100" b="1" dirty="0">
              <a:solidFill>
                <a:schemeClr val="bg1">
                  <a:lumMod val="9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b="1" dirty="0" err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Akkem</a:t>
            </a:r>
            <a:r>
              <a:rPr lang="en-US" sz="11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Kavya, </a:t>
            </a:r>
            <a:r>
              <a:rPr lang="en-US" sz="11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238r1a12k4@gmail.com</a:t>
            </a:r>
            <a:endParaRPr lang="en-US" sz="1100" b="1" dirty="0">
              <a:solidFill>
                <a:schemeClr val="bg1">
                  <a:lumMod val="9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Muppidi Anusha, </a:t>
            </a:r>
            <a:r>
              <a:rPr lang="en-US" sz="11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laxmanmuppidi9704@gmail.com</a:t>
            </a:r>
            <a:endParaRPr lang="en-US" sz="1100" b="1" dirty="0">
              <a:solidFill>
                <a:schemeClr val="bg1">
                  <a:lumMod val="9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b="1" dirty="0">
              <a:solidFill>
                <a:schemeClr val="bg1">
                  <a:lumMod val="9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4114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100" dirty="0"/>
          </a:p>
          <a:p>
            <a:pPr algn="r">
              <a:lnSpc>
                <a:spcPct val="130000"/>
              </a:lnSpc>
            </a:pPr>
            <a:r>
              <a:rPr lang="en-US" sz="1100" b="1" dirty="0" err="1">
                <a:solidFill>
                  <a:srgbClr val="D7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Narasimhula</a:t>
            </a:r>
            <a:r>
              <a:rPr lang="en-US" sz="1100" b="1" dirty="0">
                <a:solidFill>
                  <a:srgbClr val="D7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 V Venu Gopal</a:t>
            </a:r>
            <a:endParaRPr lang="en-US" sz="11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A31DDCE3-0F7F-2F89-1AC3-E51104CCD918}"/>
              </a:ext>
            </a:extLst>
          </p:cNvPr>
          <p:cNvSpPr/>
          <p:nvPr/>
        </p:nvSpPr>
        <p:spPr>
          <a:xfrm>
            <a:off x="566928" y="3886200"/>
            <a:ext cx="7589520" cy="0"/>
          </a:xfrm>
          <a:prstGeom prst="line">
            <a:avLst/>
          </a:prstGeom>
          <a:noFill/>
          <a:ln w="12700">
            <a:solidFill>
              <a:srgbClr val="3E5E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65760" cy="365760"/>
          </a:xfrm>
          <a:prstGeom prst="ellipse">
            <a:avLst/>
          </a:prstGeom>
          <a:solidFill>
            <a:srgbClr val="2A83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143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365760" cy="365760"/>
          </a:xfrm>
          <a:prstGeom prst="ellipse">
            <a:avLst/>
          </a:prstGeom>
          <a:solidFill>
            <a:srgbClr val="2A83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7099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22576"/>
            <a:ext cx="365760" cy="365760"/>
          </a:xfrm>
          <a:prstGeom prst="ellipse">
            <a:avLst/>
          </a:prstGeom>
          <a:solidFill>
            <a:srgbClr val="2A83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322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2768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89504"/>
            <a:ext cx="365760" cy="365760"/>
          </a:xfrm>
          <a:prstGeom prst="ellipse">
            <a:avLst/>
          </a:prstGeom>
          <a:solidFill>
            <a:srgbClr val="2A83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8437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365760" cy="365760"/>
          </a:xfrm>
          <a:prstGeom prst="ellipse">
            <a:avLst/>
          </a:prstGeom>
          <a:solidFill>
            <a:srgbClr val="2A83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4107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Output Screenshots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365760" cy="365760"/>
          </a:xfrm>
          <a:prstGeom prst="ellipse">
            <a:avLst/>
          </a:prstGeom>
          <a:solidFill>
            <a:srgbClr val="2A83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5488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57800" y="1143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(Model Evaluation)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755648"/>
            <a:ext cx="365760" cy="365760"/>
          </a:xfrm>
          <a:prstGeom prst="ellipse">
            <a:avLst/>
          </a:prstGeom>
          <a:solidFill>
            <a:srgbClr val="2A83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5488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7800" y="17099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Demonstration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2322576"/>
            <a:ext cx="365760" cy="365760"/>
          </a:xfrm>
          <a:prstGeom prst="ellipse">
            <a:avLst/>
          </a:prstGeom>
          <a:solidFill>
            <a:srgbClr val="2A83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0" y="2322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57800" y="22768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2889504"/>
            <a:ext cx="365760" cy="365760"/>
          </a:xfrm>
          <a:prstGeom prst="ellipse">
            <a:avLst/>
          </a:prstGeom>
          <a:solidFill>
            <a:srgbClr val="2A83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54880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57800" y="28437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Travel Destination Recommender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3291840"/>
          </a:xfrm>
          <a:prstGeom prst="roundRect">
            <a:avLst>
              <a:gd name="adj" fmla="val 2222"/>
            </a:avLst>
          </a:prstGeom>
          <a:solidFill>
            <a:srgbClr val="D7E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7589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 trip across India means weighing budget, season, travel group and personal interests all at once — something generic travel sites rarely do well. This project builds an AI-powered travel recommender that uses a trained deep learning model (TensorFlow / Keras) to match a traveler's preferences to the single best destination out of 15 curated locations across India.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a Multi-Layer Perceptron trained on 4,500 traveler records, taking 6 inputs — Budget, Duration, Season, Travel Group, Core Preference and Region — and returning the top destination with an AI confidence score and 3 close alternatives. A Flask web app wraps the model with login, an interactive preference form, and a rich results page with live photos and a complete travel guide.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Travel Destination Recommender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destination among India’s many options is overwhelming for most travelers.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travel sites recommend the same popular spots to every visitor.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Rule-based, if-else logic can’t capture how budget, season, group and interests combine.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 get little guidance on the best time to visit or weather suitability.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researching destinations, weather and attractions takes hours.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89320" y="1371600"/>
            <a:ext cx="2651760" cy="2651760"/>
          </a:xfrm>
          <a:prstGeom prst="ellipse">
            <a:avLst/>
          </a:prstGeom>
          <a:solidFill>
            <a:srgbClr val="0D35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89320" y="1969477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172200" y="25146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7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destinations,</a:t>
            </a:r>
            <a:endParaRPr lang="en-US" sz="1200" i="1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D7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endless traveler needs</a:t>
            </a:r>
            <a:endParaRPr lang="en-US" sz="1200" i="1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Travel Destination Recommender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trained deep learning model to automatically match traveler preferences to the best destination, with a measurable confidence score.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828800" cy="2651760"/>
          </a:xfrm>
          <a:prstGeom prst="roundRect">
            <a:avLst>
              <a:gd name="adj" fmla="val 3500"/>
            </a:avLst>
          </a:prstGeom>
          <a:solidFill>
            <a:srgbClr val="D7E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85800" y="1764792"/>
            <a:ext cx="384048" cy="384048"/>
          </a:xfrm>
          <a:prstGeom prst="ellipse">
            <a:avLst/>
          </a:prstGeom>
          <a:solidFill>
            <a:srgbClr val="2A83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2585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3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Neural Network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807208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Multi-Layer Perceptron (128-64-32 neurons) trained on 4,500 traveler records.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42032" y="1600200"/>
            <a:ext cx="1828800" cy="2651760"/>
          </a:xfrm>
          <a:prstGeom prst="roundRect">
            <a:avLst>
              <a:gd name="adj" fmla="val 3500"/>
            </a:avLst>
          </a:prstGeom>
          <a:solidFill>
            <a:srgbClr val="D7E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679192" y="1764792"/>
            <a:ext cx="384048" cy="384048"/>
          </a:xfrm>
          <a:prstGeom prst="ellipse">
            <a:avLst/>
          </a:prstGeom>
          <a:solidFill>
            <a:srgbClr val="2A83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679192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79192" y="22585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3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Matching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679192" y="2807208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6 real inputs: Budget, Duration, Season, Group, Preference, Region.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35424" y="1600200"/>
            <a:ext cx="1828800" cy="2651760"/>
          </a:xfrm>
          <a:prstGeom prst="roundRect">
            <a:avLst>
              <a:gd name="adj" fmla="val 3500"/>
            </a:avLst>
          </a:prstGeom>
          <a:solidFill>
            <a:srgbClr val="D7E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72584" y="1764792"/>
            <a:ext cx="384048" cy="384048"/>
          </a:xfrm>
          <a:prstGeom prst="ellipse">
            <a:avLst/>
          </a:prstGeom>
          <a:solidFill>
            <a:srgbClr val="2A83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72584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72584" y="22585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3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72584" y="2807208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output gives a top match plus an AI confidence % and 3 alternatives.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28816" y="1600200"/>
            <a:ext cx="1828800" cy="2651760"/>
          </a:xfrm>
          <a:prstGeom prst="roundRect">
            <a:avLst>
              <a:gd name="adj" fmla="val 3500"/>
            </a:avLst>
          </a:prstGeom>
          <a:solidFill>
            <a:srgbClr val="D7E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665976" y="1764792"/>
            <a:ext cx="384048" cy="384048"/>
          </a:xfrm>
          <a:prstGeom prst="ellipse">
            <a:avLst/>
          </a:prstGeom>
          <a:solidFill>
            <a:srgbClr val="2A83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665976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65976" y="22585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3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App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65976" y="2807208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 with login, live photos, a full travel guide, and a REST API.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Travel Destination Recommender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828800"/>
            <a:ext cx="1481328" cy="1005840"/>
          </a:xfrm>
          <a:prstGeom prst="roundRect">
            <a:avLst>
              <a:gd name="adj" fmla="val 5455"/>
            </a:avLst>
          </a:prstGeom>
          <a:solidFill>
            <a:srgbClr val="3E5E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Preferences)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847088" y="2249424"/>
            <a:ext cx="164592" cy="164592"/>
          </a:xfrm>
          <a:prstGeom prst="rightArrow">
            <a:avLst/>
          </a:prstGeom>
          <a:solidFill>
            <a:srgbClr val="2A83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011680" y="1828800"/>
            <a:ext cx="1481328" cy="1005840"/>
          </a:xfrm>
          <a:prstGeom prst="roundRect">
            <a:avLst>
              <a:gd name="adj" fmla="val 5455"/>
            </a:avLst>
          </a:prstGeom>
          <a:solidFill>
            <a:srgbClr val="3E5E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057400" y="1828800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(OneHot + Scaler)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93008" y="2249424"/>
            <a:ext cx="164592" cy="164592"/>
          </a:xfrm>
          <a:prstGeom prst="rightArrow">
            <a:avLst/>
          </a:prstGeom>
          <a:solidFill>
            <a:srgbClr val="2A83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0" y="1828800"/>
            <a:ext cx="1481328" cy="1005840"/>
          </a:xfrm>
          <a:prstGeom prst="roundRect">
            <a:avLst>
              <a:gd name="adj" fmla="val 5455"/>
            </a:avLst>
          </a:prstGeom>
          <a:solidFill>
            <a:srgbClr val="0D35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703320" y="1828800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(128–64–32 Dense)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38928" y="2249424"/>
            <a:ext cx="164592" cy="164592"/>
          </a:xfrm>
          <a:prstGeom prst="rightArrow">
            <a:avLst/>
          </a:prstGeom>
          <a:solidFill>
            <a:srgbClr val="2A83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303520" y="1828800"/>
            <a:ext cx="1481328" cy="1005840"/>
          </a:xfrm>
          <a:prstGeom prst="roundRect">
            <a:avLst>
              <a:gd name="adj" fmla="val 5455"/>
            </a:avLst>
          </a:prstGeom>
          <a:solidFill>
            <a:srgbClr val="3E5E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49240" y="1828800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Output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 Destinations)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84848" y="2249424"/>
            <a:ext cx="164592" cy="164592"/>
          </a:xfrm>
          <a:prstGeom prst="rightArrow">
            <a:avLst/>
          </a:prstGeom>
          <a:solidFill>
            <a:srgbClr val="2A83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949440" y="1828800"/>
            <a:ext cx="1481328" cy="1005840"/>
          </a:xfrm>
          <a:prstGeom prst="roundRect">
            <a:avLst>
              <a:gd name="adj" fmla="val 5455"/>
            </a:avLst>
          </a:prstGeom>
          <a:solidFill>
            <a:srgbClr val="3E5E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995160" y="1828800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 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200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traveler's 6 preferences are encoded into a 25-dimensional feature vector, passed through a trained neural network, and scored by a Softmax layer across 15 destinations — returning the top match with a confidence percentage.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Travel Destination Recommender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Output Screenshot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4864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Travel Destination Recommender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0ACC473-5111-86B3-A3E5-50DF98C05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6" y="1002245"/>
            <a:ext cx="7949184" cy="38623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9E7D26-6B17-98C9-0E89-1430A15A0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588391"/>
            <a:ext cx="8178799" cy="3966717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C736D6-ECD9-1D01-46E2-CC263873611C}"/>
              </a:ext>
            </a:extLst>
          </p:cNvPr>
          <p:cNvSpPr txBox="1"/>
          <p:nvPr/>
        </p:nvSpPr>
        <p:spPr>
          <a:xfrm>
            <a:off x="297869" y="4742470"/>
            <a:ext cx="3364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778823-4CCD-D680-3600-4D0066B5EE7E}"/>
              </a:ext>
            </a:extLst>
          </p:cNvPr>
          <p:cNvSpPr txBox="1"/>
          <p:nvPr/>
        </p:nvSpPr>
        <p:spPr>
          <a:xfrm>
            <a:off x="246714" y="4876262"/>
            <a:ext cx="45755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Travel Destination Recommender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19059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Evaluation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4663440" cy="1828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5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5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5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94.07%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(unseen)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93.78%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577840" y="118872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0D35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715000" y="1280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93.78%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71500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577840" y="228600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0D35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715000" y="2377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2200" dirty="0"/>
          </a:p>
        </p:txBody>
      </p:sp>
      <p:sp>
        <p:nvSpPr>
          <p:cNvPr id="3" name="Text 6"/>
          <p:cNvSpPr/>
          <p:nvPr/>
        </p:nvSpPr>
        <p:spPr>
          <a:xfrm>
            <a:off x="571500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577840" y="338328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0D35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715000" y="3474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&lt;25ms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71500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Speed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3063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across all 15 destination classes on 4,500 traveler records (train / validation / test split).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Travel Destination Recommender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35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Demonstration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2926080"/>
          </a:xfrm>
          <a:prstGeom prst="roundRect">
            <a:avLst>
              <a:gd name="adj" fmla="val 1875"/>
            </a:avLst>
          </a:prstGeom>
          <a:solidFill>
            <a:srgbClr val="3E5E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251960" y="21488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 rot="5400000">
            <a:off x="4480560" y="2359152"/>
            <a:ext cx="384048" cy="402336"/>
          </a:xfrm>
          <a:prstGeom prst="triangle">
            <a:avLst/>
          </a:prstGeom>
          <a:solidFill>
            <a:srgbClr val="0D35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645920" y="32461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7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walkthrough: Login → Fill preference form → Predict → View destination, confidence &amp; travel guide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08176" y="3779520"/>
            <a:ext cx="612648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i="1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demo</a:t>
            </a: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IN" sz="1100" b="1" i="1" dirty="0">
                <a:solidFill>
                  <a:schemeClr val="bg1">
                    <a:lumMod val="95000"/>
                  </a:schemeClr>
                </a:solidFill>
              </a:rPr>
              <a:t>https://github.com/Jayasree-2503/AI-powdered-Travel-Destination-Recommendation-Using-Deep-Learning/raw/main/AI_Travel_Destination_Demo</a:t>
            </a:r>
            <a:r>
              <a:rPr lang="en-IN" sz="1100" b="1" i="1" dirty="0"/>
              <a:t>_</a:t>
            </a:r>
            <a:r>
              <a:rPr lang="en-IN" sz="1100" b="1" i="1" dirty="0">
                <a:solidFill>
                  <a:schemeClr val="bg1">
                    <a:lumMod val="95000"/>
                  </a:schemeClr>
                </a:solidFill>
              </a:rPr>
              <a:t>Small.mp4</a:t>
            </a:r>
            <a:endParaRPr lang="en-IN" sz="1100" i="1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Travel Destination Recommender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deep learning model can reliably match travelers to the right Indian destination.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neural network reached 93.78% test accuracy with a macro F1-score of 0.94 across 15 destinations.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runs in under 25 ms, fast enough for a real, interactive web app.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Flask app with login, live photos and a full travel guide shows a complete, usable end-to-end system.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Travel Destination Recommender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65760" cy="365760"/>
          </a:xfrm>
          <a:prstGeom prst="ellipse">
            <a:avLst/>
          </a:prstGeom>
          <a:solidFill>
            <a:srgbClr val="2A83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161288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beyond India to cover international destinations.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47088"/>
            <a:ext cx="365760" cy="365760"/>
          </a:xfrm>
          <a:prstGeom prst="ellipse">
            <a:avLst/>
          </a:prstGeom>
          <a:solidFill>
            <a:srgbClr val="2A83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819656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multi-city itinerary planning across a full trip.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05456"/>
            <a:ext cx="365760" cy="365760"/>
          </a:xfrm>
          <a:prstGeom prst="ellipse">
            <a:avLst/>
          </a:prstGeom>
          <a:solidFill>
            <a:srgbClr val="2A83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478024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in real-time weather and pricing data for each destination.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63824"/>
            <a:ext cx="365760" cy="365760"/>
          </a:xfrm>
          <a:prstGeom prst="ellipse">
            <a:avLst/>
          </a:prstGeom>
          <a:solidFill>
            <a:srgbClr val="2A83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136392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user feedback to retrain and keep improving the model.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22192"/>
            <a:ext cx="365760" cy="365760"/>
          </a:xfrm>
          <a:prstGeom prst="ellipse">
            <a:avLst/>
          </a:prstGeom>
          <a:solidFill>
            <a:srgbClr val="2A83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79476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Flask app to the cloud for public access.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Travel Destination Recommender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35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3E5EA8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863840" y="-822960"/>
            <a:ext cx="2377440" cy="2377440"/>
          </a:xfrm>
          <a:prstGeom prst="ellipse">
            <a:avLst/>
          </a:prstGeom>
          <a:solidFill>
            <a:srgbClr val="2A83D0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2743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7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Travel Destination Recommender  |  AICW Engineering Spoke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3108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100" b="1" i="1" dirty="0">
                <a:solidFill>
                  <a:schemeClr val="bg1">
                    <a:lumMod val="85000"/>
                  </a:schemeClr>
                </a:solidFill>
              </a:rPr>
              <a:t>github.com/Jayasree-2503/AI-powdered-Travel-Destination-Recommendation-Using-Deep-Learning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802</Words>
  <Application>Microsoft Office PowerPoint</Application>
  <PresentationFormat>On-screen Show (16:9)</PresentationFormat>
  <Paragraphs>143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Jayasree Mogusani</cp:lastModifiedBy>
  <cp:revision>3</cp:revision>
  <dcterms:created xsi:type="dcterms:W3CDTF">2026-08-24T19:34:10Z</dcterms:created>
  <dcterms:modified xsi:type="dcterms:W3CDTF">2026-08-24T20:28:23Z</dcterms:modified>
</cp:coreProperties>
</file>